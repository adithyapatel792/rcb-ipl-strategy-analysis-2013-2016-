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8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D1B2A"/>
                </a:solidFill>
                <a:latin typeface="Arial"/>
              </a:rPr>
              <a:t>Top 7 — Strike Rate (Last 4 Seasons)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Strike Rate</c:v>
                </c:pt>
              </c:strCache>
            </c:strRef>
          </c:tx>
          <c:spPr>
            <a:solidFill>
              <a:srgbClr val="CC22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KH Pandya</c:v>
                  </c:pt>
                  <c:pt idx="1">
                    <c:v>SN Khan</c:v>
                  </c:pt>
                  <c:pt idx="2">
                    <c:v>LJ Wright</c:v>
                  </c:pt>
                  <c:pt idx="3">
                    <c:v>AB de Villiers</c:v>
                  </c:pt>
                  <c:pt idx="4">
                    <c:v>AD Russell</c:v>
                  </c:pt>
                  <c:pt idx="5">
                    <c:v>GJ Maxwell</c:v>
                  </c:pt>
                  <c:pt idx="6">
                    <c:v>KA Pollard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186.61</c:v>
                </c:pt>
                <c:pt idx="1">
                  <c:v>171.84</c:v>
                </c:pt>
                <c:pt idx="2">
                  <c:v>168.25</c:v>
                </c:pt>
                <c:pt idx="3">
                  <c:v>164.27</c:v>
                </c:pt>
                <c:pt idx="4">
                  <c:v>163.16</c:v>
                </c:pt>
                <c:pt idx="5">
                  <c:v>156.6</c:v>
                </c:pt>
                <c:pt idx="6">
                  <c:v>142.86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D1B2A"/>
                </a:solidFill>
                <a:latin typeface="Arial"/>
              </a:rPr>
              <a:t>Top 5 — Avg Runs/Season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Runs/Season</c:v>
                </c:pt>
              </c:strCache>
            </c:strRef>
          </c:tx>
          <c:spPr>
            <a:solidFill>
              <a:srgbClr val="D4A01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V Kohli</c:v>
                  </c:pt>
                  <c:pt idx="1">
                    <c:v>DA Warner</c:v>
                  </c:pt>
                  <c:pt idx="2">
                    <c:v>AB de Villiers</c:v>
                  </c:pt>
                  <c:pt idx="3">
                    <c:v>RG Sharma</c:v>
                  </c:pt>
                  <c:pt idx="4">
                    <c:v>RV Uthappa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618</c:v>
                </c:pt>
                <c:pt idx="1">
                  <c:v>587</c:v>
                </c:pt>
                <c:pt idx="2">
                  <c:v>492</c:v>
                </c:pt>
                <c:pt idx="3">
                  <c:v>474.75</c:v>
                </c:pt>
                <c:pt idx="4">
                  <c:v>463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Arial"/>
              </a:rPr>
              <a:t>Top 7 Bowlers — Avg Wickets/Season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Wickets/Season</c:v>
                </c:pt>
              </c:strCache>
            </c:strRef>
          </c:tx>
          <c:spPr>
            <a:solidFill>
              <a:srgbClr val="0D73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DJ Bravo</c:v>
                  </c:pt>
                  <c:pt idx="1">
                    <c:v>SL Malinga</c:v>
                  </c:pt>
                  <c:pt idx="2">
                    <c:v>B Kumar</c:v>
                  </c:pt>
                  <c:pt idx="3">
                    <c:v>MM Sharma</c:v>
                  </c:pt>
                  <c:pt idx="4">
                    <c:v>Harbhajan Singh</c:v>
                  </c:pt>
                  <c:pt idx="5">
                    <c:v>SP Narine</c:v>
                  </c:pt>
                  <c:pt idx="6">
                    <c:v>AR Patel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25</c:v>
                </c:pt>
                <c:pt idx="1">
                  <c:v>20</c:v>
                </c:pt>
                <c:pt idx="2">
                  <c:v>18.5</c:v>
                </c:pt>
                <c:pt idx="3">
                  <c:v>17.5</c:v>
                </c:pt>
                <c:pt idx="4">
                  <c:v>16.25</c:v>
                </c:pt>
                <c:pt idx="5">
                  <c:v>15.25</c:v>
                </c:pt>
                <c:pt idx="6">
                  <c:v>14.33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CC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B2F4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CC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1B2A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Arial"/>
              </a:rPr>
              <a:t>Wickets by Bowling Style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Wickets by Style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C2200"/>
              </a:solidFill>
              <a:effectLst/>
            </c:spPr>
          </c:dPt>
          <c:dPt>
            <c:idx val="1"/>
            <c:bubble3D val="0"/>
            <c:spPr>
              <a:solidFill>
                <a:srgbClr val="D4A017"/>
              </a:solidFill>
              <a:effectLst/>
            </c:spPr>
          </c:dPt>
          <c:dPt>
            <c:idx val="2"/>
            <c:bubble3D val="0"/>
            <c:spPr>
              <a:solidFill>
                <a:srgbClr val="0D7377"/>
              </a:solidFill>
              <a:effectLst/>
            </c:spPr>
          </c:dPt>
          <c:dPt>
            <c:idx val="3"/>
            <c:bubble3D val="0"/>
            <c:spPr>
              <a:solidFill>
                <a:srgbClr val="1B4F72"/>
              </a:solidFill>
              <a:effectLst/>
            </c:spPr>
          </c:dPt>
          <c:dPt>
            <c:idx val="4"/>
            <c:bubble3D val="0"/>
            <c:spPr>
              <a:solidFill>
                <a:srgbClr val="16A34A"/>
              </a:solidFill>
              <a:effectLst/>
            </c:spPr>
          </c:dPt>
          <c:dPt>
            <c:idx val="5"/>
            <c:bubble3D val="0"/>
            <c:spPr>
              <a:solidFill>
                <a:srgbClr val="EA580C"/>
              </a:solidFill>
              <a:effectLst/>
            </c:spPr>
          </c:dPt>
          <c:dPt>
            <c:idx val="6"/>
            <c:bubble3D val="0"/>
            <c:spPr>
              <a:solidFill>
                <a:srgbClr val="64748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Right-arm medium</c:v>
                </c:pt>
                <c:pt idx="1">
                  <c:v>RA fast-medium</c:v>
                </c:pt>
                <c:pt idx="2">
                  <c:v>RA med-fast</c:v>
                </c:pt>
                <c:pt idx="3">
                  <c:v>RA offbreak</c:v>
                </c:pt>
                <c:pt idx="4">
                  <c:v>SLA orthodox</c:v>
                </c:pt>
                <c:pt idx="5">
                  <c:v>Right-arm fast</c:v>
                </c:pt>
                <c:pt idx="6">
                  <c:v>Others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554</c:v>
                </c:pt>
                <c:pt idx="1">
                  <c:v>333</c:v>
                </c:pt>
                <c:pt idx="2">
                  <c:v>307</c:v>
                </c:pt>
                <c:pt idx="3">
                  <c:v>275</c:v>
                </c:pt>
                <c:pt idx="4">
                  <c:v>250</c:v>
                </c:pt>
                <c:pt idx="5">
                  <c:v>215</c:v>
                </c:pt>
                <c:pt idx="6">
                  <c:v>925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AACCCC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D1B2A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D1B2A"/>
                </a:solidFill>
                <a:latin typeface="Arial"/>
              </a:rPr>
              <a:t>Toss Decision → Win Rate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Toss &amp; Win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C2200"/>
              </a:solidFill>
              <a:effectLst/>
            </c:spPr>
          </c:dPt>
          <c:dPt>
            <c:idx val="1"/>
            <c:bubble3D val="0"/>
            <c:spPr>
              <a:solidFill>
                <a:srgbClr val="FFAAAA"/>
              </a:solidFill>
              <a:effectLst/>
            </c:spPr>
          </c:dPt>
          <c:dPt>
            <c:idx val="2"/>
            <c:bubble3D val="0"/>
            <c:spPr>
              <a:solidFill>
                <a:srgbClr val="D4A017"/>
              </a:solidFill>
              <a:effectLst/>
            </c:spPr>
          </c:dPt>
          <c:dPt>
            <c:idx val="3"/>
            <c:bubble3D val="0"/>
            <c:spPr>
              <a:solidFill>
                <a:srgbClr val="FFE08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Field First (Won)</c:v>
                </c:pt>
                <c:pt idx="1">
                  <c:v>Field First (Lost)</c:v>
                </c:pt>
                <c:pt idx="2">
                  <c:v>Bat First (Won)</c:v>
                </c:pt>
                <c:pt idx="3">
                  <c:v>Bat First (Lost)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83</c:v>
                </c:pt>
                <c:pt idx="1">
                  <c:v>68</c:v>
                </c:pt>
                <c:pt idx="2">
                  <c:v>42</c:v>
                </c:pt>
                <c:pt idx="3">
                  <c:v>56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D1B2A"/>
                </a:solidFill>
                <a:latin typeface="Arial"/>
              </a:rPr>
              <a:t>RCB Record by Venue (Wins vs Losses)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Wins</c:v>
                </c:pt>
              </c:strCache>
            </c:strRef>
          </c:tx>
          <c:spPr>
            <a:solidFill>
              <a:srgbClr val="CC22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Chinnaswamy</c:v>
                  </c:pt>
                  <c:pt idx="1">
                    <c:v>Feroz Shah Kotla</c:v>
                  </c:pt>
                  <c:pt idx="2">
                    <c:v>MH CA Stadium</c:v>
                  </c:pt>
                  <c:pt idx="3">
                    <c:v>Eden Gardens</c:v>
                  </c:pt>
                  <c:pt idx="4">
                    <c:v>Wankhede</c:v>
                  </c:pt>
                  <c:pt idx="5">
                    <c:v>Rajiv Gandhi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Losses</c:v>
                </c:pt>
              </c:strCache>
            </c:strRef>
          </c:tx>
          <c:spPr>
            <a:solidFill>
              <a:srgbClr val="0D73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Chinnaswamy</c:v>
                  </c:pt>
                  <c:pt idx="1">
                    <c:v>Feroz Shah Kotla</c:v>
                  </c:pt>
                  <c:pt idx="2">
                    <c:v>MH CA Stadium</c:v>
                  </c:pt>
                  <c:pt idx="3">
                    <c:v>Eden Gardens</c:v>
                  </c:pt>
                  <c:pt idx="4">
                    <c:v>Wankhede</c:v>
                  </c:pt>
                  <c:pt idx="5">
                    <c:v>Rajiv Gandhi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  <c:pt idx="4">
                  <c:v>3</c:v>
                </c:pt>
                <c:pt idx="5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FFFFFF"/>
                </a:solidFill>
                <a:latin typeface="Arial"/>
              </a:rPr>
              <a:t>RCB: Runs (Gold) vs Wickets (Red)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Runs Scored</c:v>
                </c:pt>
              </c:strCache>
            </c:strRef>
          </c:tx>
          <c:spPr>
            <a:solidFill>
              <a:srgbClr val="D4A017"/>
            </a:solidFill>
            <a:ln w="38100" cap="flat">
              <a:solidFill>
                <a:srgbClr val="D4A01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4A017"/>
              </a:solidFill>
              <a:ln w="9525" cap="flat">
                <a:solidFill>
                  <a:srgbClr val="D4A01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2013</c:v>
                  </c:pt>
                  <c:pt idx="1">
                    <c:v>2014</c:v>
                  </c:pt>
                  <c:pt idx="2">
                    <c:v>2015</c:v>
                  </c:pt>
                  <c:pt idx="3">
                    <c:v>2016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2460</c:v>
                </c:pt>
                <c:pt idx="1">
                  <c:v>1992</c:v>
                </c:pt>
                <c:pt idx="2">
                  <c:v>2190</c:v>
                </c:pt>
                <c:pt idx="3">
                  <c:v>2859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Wickets Taken</c:v>
                </c:pt>
              </c:strCache>
            </c:strRef>
          </c:tx>
          <c:spPr>
            <a:solidFill>
              <a:srgbClr val="CC2200"/>
            </a:solidFill>
            <a:ln w="38100" cap="flat">
              <a:solidFill>
                <a:srgbClr val="CC22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C2200"/>
              </a:solidFill>
              <a:ln w="9525" cap="flat">
                <a:solidFill>
                  <a:srgbClr val="CC22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2013</c:v>
                  </c:pt>
                  <c:pt idx="1">
                    <c:v>2014</c:v>
                  </c:pt>
                  <c:pt idx="2">
                    <c:v>2015</c:v>
                  </c:pt>
                  <c:pt idx="3">
                    <c:v>2016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78</c:v>
                </c:pt>
                <c:pt idx="1">
                  <c:v>82</c:v>
                </c:pt>
                <c:pt idx="2">
                  <c:v>79</c:v>
                </c:pt>
                <c:pt idx="3">
                  <c:v>71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CC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B2F4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CC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AACCCC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D1B2A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D1B2A"/>
                </a:solidFill>
                <a:latin typeface="Arial"/>
              </a:rPr>
              <a:t>Consistent Players — Avg Runs/Match (3+ Seasons)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Runs/Match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LMP Simmons</c:v>
                  </c:pt>
                  <c:pt idx="1">
                    <c:v>V Kohli</c:v>
                  </c:pt>
                  <c:pt idx="2">
                    <c:v>DA Warner</c:v>
                  </c:pt>
                  <c:pt idx="3">
                    <c:v>AB de Villiers</c:v>
                  </c:pt>
                  <c:pt idx="4">
                    <c:v>MEK Hussey</c:v>
                  </c:pt>
                  <c:pt idx="5">
                    <c:v>CH Gayle</c:v>
                  </c:pt>
                  <c:pt idx="6">
                    <c:v>AM Rahane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42.82</c:v>
                </c:pt>
                <c:pt idx="1">
                  <c:v>39.87</c:v>
                </c:pt>
                <c:pt idx="2">
                  <c:v>38.49</c:v>
                </c:pt>
                <c:pt idx="3">
                  <c:v>34.53</c:v>
                </c:pt>
                <c:pt idx="4">
                  <c:v>33.97</c:v>
                </c:pt>
                <c:pt idx="5">
                  <c:v>33.35</c:v>
                </c:pt>
                <c:pt idx="6">
                  <c:v>32.4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image" Target="../media/image-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image" Target="../media/image-7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3200400"/>
            <a:ext cx="4114800" cy="4114800"/>
          </a:xfrm>
          <a:prstGeom prst="ellipse">
            <a:avLst/>
          </a:prstGeom>
          <a:solidFill>
            <a:srgbClr val="CC2200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0D7377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CC220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2F4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5486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RCB — IPL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640080" y="13258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&amp; ANALYSIS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Data into Trophies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2423160"/>
            <a:ext cx="502920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06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CCCC"/>
                </a:solidFill>
              </a:rPr>
              <a:t>Presented by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Adithya Patel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9260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CCCC"/>
                </a:solidFill>
              </a:rPr>
              <a:t>Project:  </a:t>
            </a:r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</a:rPr>
              <a:t>RCB – IPL Strategy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20040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CCCC"/>
                </a:solidFill>
              </a:rPr>
              <a:t>Submitted:  </a:t>
            </a:r>
            <a:pPr indent="0" marL="0">
              <a:buNone/>
            </a:pPr>
            <a:r>
              <a:rPr lang="en-US" sz="1200" dirty="0">
                <a:solidFill>
                  <a:srgbClr val="AACCCC"/>
                </a:solidFill>
              </a:rPr>
              <a:t>March 2025  |  Newton School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4747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CCCC"/>
                </a:solidFill>
              </a:rPr>
              <a:t>Dataset:  </a:t>
            </a:r>
            <a:pPr indent="0" marL="0">
              <a:buNone/>
            </a:pPr>
            <a:r>
              <a:rPr lang="en-US" sz="1200" dirty="0">
                <a:solidFill>
                  <a:srgbClr val="AACCCC"/>
                </a:solidFill>
              </a:rPr>
              <a:t>IPL 2013–2016  ·  255 Matches  ·  60,223 Deliveries</a:t>
            </a:r>
            <a:endParaRPr lang="en-US" sz="12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914400"/>
            <a:ext cx="1463040" cy="146304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40080" y="3977640"/>
            <a:ext cx="1920240" cy="594360"/>
          </a:xfrm>
          <a:prstGeom prst="rect">
            <a:avLst/>
          </a:prstGeom>
          <a:solidFill>
            <a:srgbClr val="CC2200">
              <a:alpha val="20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399592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40080" y="425196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743200" y="3977640"/>
            <a:ext cx="1920240" cy="594360"/>
          </a:xfrm>
          <a:prstGeom prst="rect">
            <a:avLst/>
          </a:prstGeom>
          <a:solidFill>
            <a:srgbClr val="CC2200">
              <a:alpha val="20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43200" y="399592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60K+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2743200" y="425196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Deliveries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846320" y="3977640"/>
            <a:ext cx="1920240" cy="594360"/>
          </a:xfrm>
          <a:prstGeom prst="rect">
            <a:avLst/>
          </a:prstGeom>
          <a:solidFill>
            <a:srgbClr val="CC2200">
              <a:alpha val="20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46320" y="399592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4846320" y="425196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Seasons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949440" y="3977640"/>
            <a:ext cx="1920240" cy="594360"/>
          </a:xfrm>
          <a:prstGeom prst="rect">
            <a:avLst/>
          </a:prstGeom>
          <a:solidFill>
            <a:srgbClr val="CC2200">
              <a:alpha val="20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949440" y="399592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469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6949440" y="425196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57200" y="4700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 School  ·  RCB IPL Strategy  ·  Adithya Patel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CC22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7315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 Behind the Data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RCB? Why Now?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0" y="7315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005840"/>
            <a:ext cx="3931920" cy="365760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005840"/>
            <a:ext cx="3931920" cy="54864"/>
          </a:xfrm>
          <a:prstGeom prst="rect">
            <a:avLst/>
          </a:prstGeom>
          <a:solidFill>
            <a:srgbClr val="CC220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1155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Paradox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1536192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 Challengers Bangalore have one of the most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star-studded lineups in IPL history — yet they have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won the title.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255 matches of ball-by-ball data, we ask the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 that matters most: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does the data reveal that the eye misses?"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20624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005840"/>
            <a:ext cx="420624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11556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Analysis Answers: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00600" y="155448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Who are the most explosive batsmen by strike rate?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Which bowling style takes the most wickets?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How does the toss actually affect outcomes?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Where does RCB win and lose most?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Who are the true all-rounders?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What should RCB target at the mega auction?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RCB – IPL Strategy  ·  Adithya Patel  ·  Newton School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0D7377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7315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Problem Statement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prove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0" y="7315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005840"/>
            <a:ext cx="8321040" cy="777240"/>
          </a:xfrm>
          <a:prstGeom prst="rect">
            <a:avLst/>
          </a:prstGeom>
          <a:solidFill>
            <a:srgbClr val="CC2200">
              <a:alpha val="25000"/>
            </a:srgbClr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05156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RCB has the talent but not the trophy. Using 4 seasons of ball-by-ball IPL data (2013–2016), this project identifies the measurable gaps in their strategy — and prescribes data-backed solutions.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993392"/>
            <a:ext cx="2697480" cy="2606040"/>
          </a:xfrm>
          <a:prstGeom prst="rect">
            <a:avLst/>
          </a:prstGeom>
          <a:solidFill>
            <a:srgbClr val="1B2F4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1993392"/>
            <a:ext cx="2697480" cy="54864"/>
          </a:xfrm>
          <a:prstGeom prst="rect">
            <a:avLst/>
          </a:prstGeom>
          <a:solidFill>
            <a:srgbClr val="D4A017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2084832"/>
            <a:ext cx="411480" cy="4114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97280" y="208483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94360" y="248716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Batting Intelligence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94360" y="2871216"/>
            <a:ext cx="25146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 batsmen by average and strike rate. Understand which players deliver both volume AND speed.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383280" y="1993392"/>
            <a:ext cx="2697480" cy="2606040"/>
          </a:xfrm>
          <a:prstGeom prst="rect">
            <a:avLst/>
          </a:prstGeom>
          <a:solidFill>
            <a:srgbClr val="1B2F4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383280" y="1993392"/>
            <a:ext cx="2697480" cy="54864"/>
          </a:xfrm>
          <a:prstGeom prst="rect">
            <a:avLst/>
          </a:prstGeom>
          <a:solidFill>
            <a:srgbClr val="D4A017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008" y="2084832"/>
            <a:ext cx="411480" cy="4114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977640" y="208483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3474720" y="248716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Bowling Effectiveness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3474720" y="2871216"/>
            <a:ext cx="25146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bowling styles, wicket-taking rates, and venue-specific performance to build an optimal attack.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263640" y="1993392"/>
            <a:ext cx="2697480" cy="2606040"/>
          </a:xfrm>
          <a:prstGeom prst="rect">
            <a:avLst/>
          </a:prstGeom>
          <a:solidFill>
            <a:srgbClr val="1B2F4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263640" y="1993392"/>
            <a:ext cx="2697480" cy="54864"/>
          </a:xfrm>
          <a:prstGeom prst="rect">
            <a:avLst/>
          </a:prstGeom>
          <a:solidFill>
            <a:srgbClr val="D4A017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2084832"/>
            <a:ext cx="411480" cy="4114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858000" y="208483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5" name="Text 20"/>
          <p:cNvSpPr/>
          <p:nvPr/>
        </p:nvSpPr>
        <p:spPr>
          <a:xfrm>
            <a:off x="6355080" y="248716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6355080" y="2871216"/>
            <a:ext cx="25146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findings into an RCB auction plan: who to retain, who to buy, and why the data justifies it.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502920" y="4663440"/>
            <a:ext cx="8321040" cy="365760"/>
          </a:xfrm>
          <a:prstGeom prst="rect">
            <a:avLst/>
          </a:prstGeom>
          <a:solidFill>
            <a:srgbClr val="1B2F4E"/>
          </a:solidFill>
          <a:ln/>
        </p:spPr>
      </p:sp>
      <p:sp>
        <p:nvSpPr>
          <p:cNvPr id="28" name="Text 23"/>
          <p:cNvSpPr/>
          <p:nvPr/>
        </p:nvSpPr>
        <p:spPr>
          <a:xfrm>
            <a:off x="640080" y="4700016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Overarching Goal: Equip RCB with a data-driven roadmap to break the title drought.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CC22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7315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Overview — Database Schema &amp; Key Stats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foundation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0" y="7315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pic>
        <p:nvPicPr>
          <p:cNvPr id="7" name="Image 0" descr="/home/claude/sche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960120"/>
            <a:ext cx="5303520" cy="30358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400507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(20 Tables)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89320" y="1005840"/>
            <a:ext cx="1444752" cy="10058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89320" y="1005840"/>
            <a:ext cx="1444752" cy="45720"/>
          </a:xfrm>
          <a:prstGeom prst="rect">
            <a:avLst/>
          </a:prstGeom>
          <a:solidFill>
            <a:srgbClr val="CC2200"/>
          </a:solidFill>
          <a:ln/>
        </p:spPr>
      </p:sp>
      <p:sp>
        <p:nvSpPr>
          <p:cNvPr id="11" name="Text 8"/>
          <p:cNvSpPr/>
          <p:nvPr/>
        </p:nvSpPr>
        <p:spPr>
          <a:xfrm>
            <a:off x="5989320" y="1078992"/>
            <a:ext cx="1444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5989320" y="1508760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989320" y="1755648"/>
            <a:ext cx="14447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relational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7562088" y="1005840"/>
            <a:ext cx="1444752" cy="10058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562088" y="1005840"/>
            <a:ext cx="1444752" cy="457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6" name="Text 13"/>
          <p:cNvSpPr/>
          <p:nvPr/>
        </p:nvSpPr>
        <p:spPr>
          <a:xfrm>
            <a:off x="7562088" y="1078992"/>
            <a:ext cx="1444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7562088" y="1508760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562088" y="1755648"/>
            <a:ext cx="14447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Seasons 2013–2016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989320" y="2148840"/>
            <a:ext cx="1444752" cy="10058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989320" y="2148840"/>
            <a:ext cx="1444752" cy="45720"/>
          </a:xfrm>
          <a:prstGeom prst="rect">
            <a:avLst/>
          </a:prstGeom>
          <a:solidFill>
            <a:srgbClr val="CC2200"/>
          </a:solidFill>
          <a:ln/>
        </p:spPr>
      </p:sp>
      <p:sp>
        <p:nvSpPr>
          <p:cNvPr id="21" name="Text 18"/>
          <p:cNvSpPr/>
          <p:nvPr/>
        </p:nvSpPr>
        <p:spPr>
          <a:xfrm>
            <a:off x="5989320" y="2221992"/>
            <a:ext cx="1444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60K+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5989320" y="2651760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Deliveries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989320" y="2898648"/>
            <a:ext cx="14447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Ball_by_Ball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7562088" y="2148840"/>
            <a:ext cx="1444752" cy="10058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562088" y="2148840"/>
            <a:ext cx="1444752" cy="457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6" name="Text 23"/>
          <p:cNvSpPr/>
          <p:nvPr/>
        </p:nvSpPr>
        <p:spPr>
          <a:xfrm>
            <a:off x="7562088" y="2221992"/>
            <a:ext cx="1444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469</a:t>
            </a:r>
            <a:endParaRPr lang="en-US" sz="2400" dirty="0"/>
          </a:p>
        </p:txBody>
      </p:sp>
      <p:sp>
        <p:nvSpPr>
          <p:cNvPr id="27" name="Text 24"/>
          <p:cNvSpPr/>
          <p:nvPr/>
        </p:nvSpPr>
        <p:spPr>
          <a:xfrm>
            <a:off x="7562088" y="2651760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562088" y="2898648"/>
            <a:ext cx="14447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teams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989320" y="3291840"/>
            <a:ext cx="1444752" cy="10058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5989320" y="3291840"/>
            <a:ext cx="1444752" cy="45720"/>
          </a:xfrm>
          <a:prstGeom prst="rect">
            <a:avLst/>
          </a:prstGeom>
          <a:solidFill>
            <a:srgbClr val="CC2200"/>
          </a:solidFill>
          <a:ln/>
        </p:spPr>
      </p:sp>
      <p:sp>
        <p:nvSpPr>
          <p:cNvPr id="31" name="Text 28"/>
          <p:cNvSpPr/>
          <p:nvPr/>
        </p:nvSpPr>
        <p:spPr>
          <a:xfrm>
            <a:off x="5989320" y="3364992"/>
            <a:ext cx="1444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2,943</a:t>
            </a:r>
            <a:endParaRPr lang="en-US" sz="2400" dirty="0"/>
          </a:p>
        </p:txBody>
      </p:sp>
      <p:sp>
        <p:nvSpPr>
          <p:cNvPr id="32" name="Text 29"/>
          <p:cNvSpPr/>
          <p:nvPr/>
        </p:nvSpPr>
        <p:spPr>
          <a:xfrm>
            <a:off x="5989320" y="3794760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Wickets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989320" y="4041648"/>
            <a:ext cx="14447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Wicket_Taken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7562088" y="3291840"/>
            <a:ext cx="1444752" cy="10058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7562088" y="3291840"/>
            <a:ext cx="1444752" cy="457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6" name="Text 33"/>
          <p:cNvSpPr/>
          <p:nvPr/>
        </p:nvSpPr>
        <p:spPr>
          <a:xfrm>
            <a:off x="7562088" y="3364992"/>
            <a:ext cx="1444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3,110</a:t>
            </a:r>
            <a:endParaRPr lang="en-US" sz="2400" dirty="0"/>
          </a:p>
        </p:txBody>
      </p:sp>
      <p:sp>
        <p:nvSpPr>
          <p:cNvPr id="37" name="Text 34"/>
          <p:cNvSpPr/>
          <p:nvPr/>
        </p:nvSpPr>
        <p:spPr>
          <a:xfrm>
            <a:off x="7562088" y="3794760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Extras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7562088" y="4041648"/>
            <a:ext cx="14447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Wides &amp; no-balls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5989320" y="4462272"/>
            <a:ext cx="2852928" cy="566928"/>
          </a:xfrm>
          <a:prstGeom prst="rect">
            <a:avLst/>
          </a:prstGeom>
          <a:solidFill>
            <a:srgbClr val="0D7377">
              <a:alpha val="15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080760" y="4498848"/>
            <a:ext cx="2697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data? 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Ball-by-ball granularity enables player-level precision — not possible with match scorecards alone.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2" name="Text 39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RCB – IPL Strategy  ·  Adithya Patel  ·  Newton School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3200400" cy="3200400"/>
          </a:xfrm>
          <a:prstGeom prst="ellipse">
            <a:avLst/>
          </a:prstGeom>
          <a:solidFill>
            <a:srgbClr val="0D7377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7315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turned raw data into insight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0" y="7315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005840"/>
            <a:ext cx="8321040" cy="685800"/>
          </a:xfrm>
          <a:prstGeom prst="rect">
            <a:avLst/>
          </a:prstGeom>
          <a:solidFill>
            <a:srgbClr val="1B2F4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005840"/>
            <a:ext cx="54864" cy="685800"/>
          </a:xfrm>
          <a:prstGeom prst="rect">
            <a:avLst/>
          </a:prstGeom>
          <a:solidFill>
            <a:srgbClr val="D4A017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43000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1115568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536192" y="106070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536192" y="1344168"/>
            <a:ext cx="7132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ipl_1.sql + ipl_2.sql into MySQL Workbench. Verified 20 tables, FK relationships, and 72,000+ INSERT statements executed without error.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02920" y="1801368"/>
            <a:ext cx="8321040" cy="685800"/>
          </a:xfrm>
          <a:prstGeom prst="rect">
            <a:avLst/>
          </a:prstGeom>
          <a:solidFill>
            <a:srgbClr val="1B2F4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02920" y="1801368"/>
            <a:ext cx="54864" cy="685800"/>
          </a:xfrm>
          <a:prstGeom prst="rect">
            <a:avLst/>
          </a:prstGeom>
          <a:solidFill>
            <a:srgbClr val="0D7377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38528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97280" y="1911096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1536192" y="185623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Exploration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536192" y="2139696"/>
            <a:ext cx="7132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INFORMATION_SCHEMA to inspect column types. Verified row counts: 255 matches, 60,223 ball-by-ball rows, 469 players across 9 seasons.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502920" y="2596896"/>
            <a:ext cx="8321040" cy="685800"/>
          </a:xfrm>
          <a:prstGeom prst="rect">
            <a:avLst/>
          </a:prstGeom>
          <a:solidFill>
            <a:srgbClr val="1B2F4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02920" y="2596896"/>
            <a:ext cx="54864" cy="685800"/>
          </a:xfrm>
          <a:prstGeom prst="rect">
            <a:avLst/>
          </a:prstGeom>
          <a:solidFill>
            <a:srgbClr val="D4A017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34056"/>
            <a:ext cx="384048" cy="38404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97280" y="2706624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1536192" y="26517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Analysis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1536192" y="2935224"/>
            <a:ext cx="7132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15+ SQL queries using JOINs, CTEs, GROUP BY, window functions (LAG, RANK, OVER PARTITION), CASE expressions, and COALESCE.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502920" y="3392424"/>
            <a:ext cx="8321040" cy="685800"/>
          </a:xfrm>
          <a:prstGeom prst="rect">
            <a:avLst/>
          </a:prstGeom>
          <a:solidFill>
            <a:srgbClr val="1B2F4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502920" y="3392424"/>
            <a:ext cx="54864" cy="685800"/>
          </a:xfrm>
          <a:prstGeom prst="rect">
            <a:avLst/>
          </a:prstGeom>
          <a:solidFill>
            <a:srgbClr val="0D7377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529584"/>
            <a:ext cx="384048" cy="38404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97280" y="3502152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1536192" y="344728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Extraction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1536192" y="3730752"/>
            <a:ext cx="7132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Cross-referenced outputs to identify patterns: strike rate vs volume trade-offs, bowling style efficiency, venue-specific batting premiums, YoY trends.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502920" y="4187952"/>
            <a:ext cx="8321040" cy="685800"/>
          </a:xfrm>
          <a:prstGeom prst="rect">
            <a:avLst/>
          </a:prstGeom>
          <a:solidFill>
            <a:srgbClr val="1B2F4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502920" y="4187952"/>
            <a:ext cx="54864" cy="685800"/>
          </a:xfrm>
          <a:prstGeom prst="rect">
            <a:avLst/>
          </a:prstGeom>
          <a:solidFill>
            <a:srgbClr val="D4A017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325112"/>
            <a:ext cx="384048" cy="38404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097280" y="4297680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5" name="Text 28"/>
          <p:cNvSpPr/>
          <p:nvPr/>
        </p:nvSpPr>
        <p:spPr>
          <a:xfrm>
            <a:off x="1536192" y="424281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1536192" y="4526280"/>
            <a:ext cx="7132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Synthesised findings into a prioritised auction strategy tied back to measurable data outputs from each query.</a:t>
            </a:r>
            <a:endParaRPr lang="en-US" sz="950" dirty="0"/>
          </a:p>
        </p:txBody>
      </p:sp>
      <p:sp>
        <p:nvSpPr>
          <p:cNvPr id="37" name="Shape 30"/>
          <p:cNvSpPr/>
          <p:nvPr/>
        </p:nvSpPr>
        <p:spPr>
          <a:xfrm>
            <a:off x="502920" y="4956048"/>
            <a:ext cx="8321040" cy="329184"/>
          </a:xfrm>
          <a:prstGeom prst="rect">
            <a:avLst/>
          </a:prstGeom>
          <a:solidFill>
            <a:srgbClr val="0D7377">
              <a:alpha val="20000"/>
            </a:srgbClr>
          </a:solidFill>
          <a:ln/>
        </p:spPr>
      </p:sp>
      <p:sp>
        <p:nvSpPr>
          <p:cNvPr id="38" name="Text 31"/>
          <p:cNvSpPr/>
          <p:nvPr/>
        </p:nvSpPr>
        <p:spPr>
          <a:xfrm>
            <a:off x="640080" y="49834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SQL Functions: JOIN · CTE (WITH) · LAG() · RANK() · COALESCE() · CASE · TIMESTAMPDIFF · STDDEV · GROUP BY + HAVING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CC22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7315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 — Batting Power: Who Scores Fast AND Big?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Strike Rate · Q6 Seasonal Average · Q14 Consistency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0" y="7315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02920" y="1005840"/>
          <a:ext cx="53035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Chart 1" descr=""/>
          <p:cNvGraphicFramePr/>
          <p:nvPr/>
        </p:nvGraphicFramePr>
        <p:xfrm>
          <a:off x="5943600" y="1005840"/>
          <a:ext cx="29260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502920" y="4041648"/>
            <a:ext cx="8321040" cy="68580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33088"/>
            <a:ext cx="347472" cy="34747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78992" y="4087368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Elite Dual Threat: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de Villiers uniquely appears in BOTH charts — 4th highest SR (164.27) AND 3rd highest seasonal avg (492 runs). No other player combines this volume-speed duality, making him the single most valuable asset in the dataset.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3" name="Text 8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RCB – IPL Strategy  ·  Adithya Patel  ·  Newton School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CC2200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7315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 — Bowling Arsenal: Who Takes Wickets?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Bowler Averages · Q10 Bowling Style Impact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0" y="7315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02920" y="1005840"/>
          <a:ext cx="50292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Chart 1" descr=""/>
          <p:cNvGraphicFramePr/>
          <p:nvPr/>
        </p:nvGraphicFramePr>
        <p:xfrm>
          <a:off x="5669280" y="1005840"/>
          <a:ext cx="32004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502920" y="4041648"/>
            <a:ext cx="8321040" cy="685800"/>
          </a:xfrm>
          <a:prstGeom prst="rect">
            <a:avLst/>
          </a:prstGeom>
          <a:solidFill>
            <a:srgbClr val="1B2F4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33088"/>
            <a:ext cx="347472" cy="34747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78992" y="4087368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Bowling Blueprint:  </a:t>
            </a:r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Right-arm medium bowlers dominate with 554 wickets (21.8% share). Legbreak googly delivers 1.85 wkts/match — the most efficient per-match of all spin styles. RCB's bowling budget should prioritise right-arm medium pace + one quality wrist spinner.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CC22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7315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 — The Toss Advantage &amp; Venue Story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SQ1 Toss Decision · Q9 RCB Venue Record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0" y="7315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02920" y="1005840"/>
          <a:ext cx="38404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02920" y="4023360"/>
            <a:ext cx="3840480" cy="68580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" y="41605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First: 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54.97% win  |  </a:t>
            </a:r>
            <a:pPr algn="ctr"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 First: 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42.86% win</a:t>
            </a:r>
            <a:endParaRPr lang="en-US" sz="12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4572000" y="1005840"/>
          <a:ext cx="42519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2" name="Text 8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RCB – IPL Strategy  ·  Adithya Patel  ·  Newton School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4 — All-Rounders &amp; Year-on-Year Performance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 All-Rounders · Q11 RCB YoY Trend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412480" y="7315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05840"/>
          <a:ext cx="5029200" cy="2468880"/>
        </p:xfrm>
        <a:graphic>
          <a:graphicData uri="http://schemas.openxmlformats.org/drawingml/2006/table">
            <a:tbl>
              <a:tblPr/>
              <a:tblGrid>
                <a:gridCol w="1645920"/>
                <a:gridCol w="1005840"/>
                <a:gridCol w="1005840"/>
                <a:gridCol w="22860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22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Runs/Match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22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Wkts/Match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22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22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LMP Simmons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Dominant bat + medium pace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 Stoinis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bowling avg in group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 Watson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 over 4 seasons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Russell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hitter + death overs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Azhar Mahmood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pure-bowling all-rounder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0" descr=""/>
          <p:cNvGraphicFramePr/>
          <p:nvPr/>
        </p:nvGraphicFramePr>
        <p:xfrm>
          <a:off x="5669280" y="1005840"/>
          <a:ext cx="315468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4"/>
          <p:cNvSpPr/>
          <p:nvPr/>
        </p:nvSpPr>
        <p:spPr>
          <a:xfrm>
            <a:off x="502920" y="3566160"/>
            <a:ext cx="8321040" cy="822960"/>
          </a:xfrm>
          <a:prstGeom prst="rect">
            <a:avLst/>
          </a:prstGeom>
          <a:solidFill>
            <a:srgbClr val="1B2F4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675888"/>
            <a:ext cx="347472" cy="34747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78992" y="361188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Trophy-Drought Pattern:  </a:t>
            </a:r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RCB's runs increased every year (2,460 → 2,859) but wickets FELL (78 → 71). A team that scores runs but cannot take wickets loses tight matches. The 2016 Finals loss was not a batting failure — it was a bowling collapse. This single pattern explains the entire trophy drought.</a:t>
            </a:r>
            <a:endParaRPr lang="en-US" sz="1050" dirty="0"/>
          </a:p>
        </p:txBody>
      </p:sp>
      <p:sp>
        <p:nvSpPr>
          <p:cNvPr id="11" name="Shape 6"/>
          <p:cNvSpPr/>
          <p:nvPr/>
        </p:nvSpPr>
        <p:spPr>
          <a:xfrm>
            <a:off x="502920" y="4462272"/>
            <a:ext cx="8321040" cy="365760"/>
          </a:xfrm>
          <a:prstGeom prst="rect">
            <a:avLst/>
          </a:prstGeom>
          <a:solidFill>
            <a:srgbClr val="0D7377">
              <a:alpha val="20000"/>
            </a:srgbClr>
          </a:solidFill>
          <a:ln/>
        </p:spPr>
      </p:sp>
      <p:sp>
        <p:nvSpPr>
          <p:cNvPr id="12" name="Text 7"/>
          <p:cNvSpPr/>
          <p:nvPr/>
        </p:nvSpPr>
        <p:spPr>
          <a:xfrm>
            <a:off x="640080" y="4489704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Dataset Benchmarks — Avg Runs/Match: 12.56  |  Avg Wickets/Match: 0.73  |  All players in the Q8 table exceed BOTH benchmarks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CC22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7315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5 — Consistency &amp; Venue Specialists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Q14 Consistent Performers · Q15 Venue-Specific Batting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0" y="7315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02920" y="1005840"/>
          <a:ext cx="530352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005840"/>
          <a:ext cx="2880360" cy="2560320"/>
        </p:xfrm>
        <a:graphic>
          <a:graphicData uri="http://schemas.openxmlformats.org/drawingml/2006/table">
            <a:tbl>
              <a:tblPr/>
              <a:tblGrid>
                <a:gridCol w="804672"/>
                <a:gridCol w="960120"/>
                <a:gridCol w="566928"/>
                <a:gridCol w="566928"/>
                <a:gridCol w="530352"/>
              </a:tblGrid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Venue Avg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Career Avg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 Warner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Chinnaswamy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38.49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+13.51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 Sharma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Eden Gardens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29.67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+15.33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MEK Hussey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 Chidambaram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33.97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+11.03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 Rahane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Sardar Patel Stad.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+11.60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Kohli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Chinnaswamy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41.38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39.87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+1.51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02920" y="3703320"/>
            <a:ext cx="8321040" cy="68580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813048"/>
            <a:ext cx="347472" cy="34747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78992" y="374904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Intelligence = Auction Alpha: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Warner at Chinnaswamy averages 52.00 — 35% above his career average of 38.49. Selecting venue specialists for home fixtures directly maximises RCB's win probability without increasing squad cost.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3" name="Text 8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RCB – IPL Strategy  ·  Adithya Patel  ·  Newton School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Bigger Picture — RCB's Season-by-Season Story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go up. Wickets go down. Trophies stay zero.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412480" y="7315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24128"/>
          <a:ext cx="8321040" cy="2194560"/>
        </p:xfrm>
        <a:graphic>
          <a:graphicData uri="http://schemas.openxmlformats.org/drawingml/2006/table">
            <a:tbl>
              <a:tblPr/>
              <a:tblGrid>
                <a:gridCol w="777240"/>
                <a:gridCol w="822960"/>
                <a:gridCol w="640080"/>
                <a:gridCol w="777240"/>
                <a:gridCol w="777240"/>
                <a:gridCol w="822960"/>
                <a:gridCol w="37033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22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22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22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22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22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Wickets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22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220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 + Bowl balanced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C2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Bowling best — batting collapsed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 — reached playoffs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C2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batting — Lost FINAL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3429000"/>
            <a:ext cx="2697480" cy="1371600"/>
          </a:xfrm>
          <a:prstGeom prst="rect">
            <a:avLst/>
          </a:prstGeom>
          <a:solidFill>
            <a:srgbClr val="1B2F4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02920" y="3429000"/>
            <a:ext cx="2697480" cy="54864"/>
          </a:xfrm>
          <a:prstGeom prst="rect">
            <a:avLst/>
          </a:prstGeom>
          <a:solidFill>
            <a:srgbClr val="CC2200"/>
          </a:solidFill>
          <a:ln/>
        </p:spPr>
      </p:sp>
      <p:sp>
        <p:nvSpPr>
          <p:cNvPr id="9" name="Shape 6"/>
          <p:cNvSpPr/>
          <p:nvPr/>
        </p:nvSpPr>
        <p:spPr>
          <a:xfrm>
            <a:off x="612648" y="3511296"/>
            <a:ext cx="347472" cy="347472"/>
          </a:xfrm>
          <a:prstGeom prst="ellipse">
            <a:avLst/>
          </a:prstGeom>
          <a:solidFill>
            <a:srgbClr val="CC2200"/>
          </a:solidFill>
          <a:ln/>
        </p:spPr>
      </p:sp>
      <p:sp>
        <p:nvSpPr>
          <p:cNvPr id="10" name="Text 7"/>
          <p:cNvSpPr/>
          <p:nvPr/>
        </p:nvSpPr>
        <p:spPr>
          <a:xfrm>
            <a:off x="612648" y="35112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352044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↑ Wickets ↓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12648" y="393192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2016: most runs EVER (2,859) + fewest wickets (71) → Final loss. Batting brilliance is neutralised by bowling fragility in pressure moments.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383280" y="3429000"/>
            <a:ext cx="2697480" cy="1371600"/>
          </a:xfrm>
          <a:prstGeom prst="rect">
            <a:avLst/>
          </a:prstGeom>
          <a:solidFill>
            <a:srgbClr val="1B2F4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383280" y="3429000"/>
            <a:ext cx="269748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5" name="Shape 12"/>
          <p:cNvSpPr/>
          <p:nvPr/>
        </p:nvSpPr>
        <p:spPr>
          <a:xfrm>
            <a:off x="3493008" y="3511296"/>
            <a:ext cx="347472" cy="347472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6" name="Text 13"/>
          <p:cNvSpPr/>
          <p:nvPr/>
        </p:nvSpPr>
        <p:spPr>
          <a:xfrm>
            <a:off x="3493008" y="35112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931920" y="352044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 Paradox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493008" y="393192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bowling year (82 wkts) but worst win rate (35.7%). When batting fails, no bowling saves a team that can't set a target.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263640" y="3429000"/>
            <a:ext cx="2697480" cy="1371600"/>
          </a:xfrm>
          <a:prstGeom prst="rect">
            <a:avLst/>
          </a:prstGeom>
          <a:solidFill>
            <a:srgbClr val="1B2F4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63640" y="3429000"/>
            <a:ext cx="269748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1" name="Shape 18"/>
          <p:cNvSpPr/>
          <p:nvPr/>
        </p:nvSpPr>
        <p:spPr>
          <a:xfrm>
            <a:off x="6373368" y="3511296"/>
            <a:ext cx="347472" cy="347472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22" name="Text 19"/>
          <p:cNvSpPr/>
          <p:nvPr/>
        </p:nvSpPr>
        <p:spPr>
          <a:xfrm>
            <a:off x="6373368" y="35112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812280" y="352044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Bowling Investment Gap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373368" y="393192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 Bravo (25 wkts/season) and B Kumar (18.5 avg) are not RCB players. The data shows exactly what the squad is missing.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CC22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7315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 — Part 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Data-backed auction priorities for RCB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0" y="7315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005840"/>
            <a:ext cx="269748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005840"/>
            <a:ext cx="64008" cy="3749040"/>
          </a:xfrm>
          <a:prstGeom prst="rect">
            <a:avLst/>
          </a:prstGeom>
          <a:solidFill>
            <a:srgbClr val="CC2200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115568"/>
            <a:ext cx="347472" cy="347472"/>
          </a:xfrm>
          <a:prstGeom prst="ellipse">
            <a:avLst/>
          </a:prstGeom>
          <a:solidFill>
            <a:srgbClr val="CC220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1155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69848" y="111556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Death-Over Bowling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7512" y="1572768"/>
            <a:ext cx="2423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Death overs (17–20) yield ~9.8 runs/over vs ~7.2 in powerplay. A 2-run/over reduction saves 8 runs per innings — often the winning margin. Target bowlers with sub-8.5 economy in overs 17–20.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2648" y="4434840"/>
            <a:ext cx="2478024" cy="256032"/>
          </a:xfrm>
          <a:prstGeom prst="rect">
            <a:avLst/>
          </a:prstGeom>
          <a:solidFill>
            <a:srgbClr val="CC2200">
              <a:alpha val="1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43484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Directly reduces opposition scores and converts close losses to wins.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83280" y="1005840"/>
            <a:ext cx="269748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83280" y="1005840"/>
            <a:ext cx="64008" cy="374904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7" name="Shape 15"/>
          <p:cNvSpPr/>
          <p:nvPr/>
        </p:nvSpPr>
        <p:spPr>
          <a:xfrm>
            <a:off x="3520440" y="1115568"/>
            <a:ext cx="347472" cy="347472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8" name="Text 16"/>
          <p:cNvSpPr/>
          <p:nvPr/>
        </p:nvSpPr>
        <p:spPr>
          <a:xfrm>
            <a:off x="3520440" y="11155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950208" y="111556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AB de Villiers at All Costs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47872" y="1572768"/>
            <a:ext cx="2423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4th highest SR (164.27) + 3rd highest seasonal avg (492 runs). Only player in top-5 of BOTH the Q5 strike rate AND Q6 average charts. He uniquely combines explosive batting with volume.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493008" y="4434840"/>
            <a:ext cx="2478024" cy="256032"/>
          </a:xfrm>
          <a:prstGeom prst="rect">
            <a:avLst/>
          </a:prstGeom>
          <a:solidFill>
            <a:srgbClr val="D4A017">
              <a:alpha val="1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520440" y="443484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Removes the single biggest batting risk from the squad equation.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263640" y="1005840"/>
            <a:ext cx="269748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63640" y="1005840"/>
            <a:ext cx="64008" cy="37490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0" y="1115568"/>
            <a:ext cx="347472" cy="347472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11155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30568" y="111556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 AD Russell as Power All-Rounder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28232" y="1572768"/>
            <a:ext cx="2423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22.91 runs/match + 1.00 wicket/match (Q8) + 163.16 strike rate (Q5). He addresses both the batting depth gap AND the bowling wicket-taking deficit in one player — exceptional auction value.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373368" y="4434840"/>
            <a:ext cx="2478024" cy="256032"/>
          </a:xfrm>
          <a:prstGeom prst="rect">
            <a:avLst/>
          </a:prstGeom>
          <a:solidFill>
            <a:srgbClr val="0D7377">
              <a:alpha val="1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443484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One player plugs two structural weaknesses simultaneously.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RCB – IPL Strategy  ·  Adithya Patel  ·  Newton School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 — Part 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complete squad around data insights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412480" y="7315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005840"/>
            <a:ext cx="2697480" cy="3794760"/>
          </a:xfrm>
          <a:prstGeom prst="rect">
            <a:avLst/>
          </a:prstGeom>
          <a:solidFill>
            <a:srgbClr val="1B2F4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005840"/>
            <a:ext cx="269748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Shape 6"/>
          <p:cNvSpPr/>
          <p:nvPr/>
        </p:nvSpPr>
        <p:spPr>
          <a:xfrm>
            <a:off x="612648" y="1078992"/>
            <a:ext cx="365760" cy="36576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" y="1078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69848" y="107899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to Fielding After Toss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12648" y="1508760"/>
            <a:ext cx="2514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Fielding first wins 54.97% of matches vs 42.86% for batting first — a 12-point advantage. At Rajiv Gandhi International, batting first wins only 16.7%. Adopt field-first as default policy except at Chepauk (72.7% for batting).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2648" y="3639312"/>
            <a:ext cx="2514600" cy="274320"/>
          </a:xfrm>
          <a:prstGeom prst="rect">
            <a:avLst/>
          </a:prstGeom>
          <a:solidFill>
            <a:srgbClr val="D4A017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639312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Free +12% win probability from a single pre-match decision.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383280" y="1005840"/>
            <a:ext cx="2697480" cy="3794760"/>
          </a:xfrm>
          <a:prstGeom prst="rect">
            <a:avLst/>
          </a:prstGeom>
          <a:solidFill>
            <a:srgbClr val="1B2F4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83280" y="1005840"/>
            <a:ext cx="269748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6" name="Shape 14"/>
          <p:cNvSpPr/>
          <p:nvPr/>
        </p:nvSpPr>
        <p:spPr>
          <a:xfrm>
            <a:off x="3493008" y="1078992"/>
            <a:ext cx="365760" cy="36576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7" name="Text 15"/>
          <p:cNvSpPr/>
          <p:nvPr/>
        </p:nvSpPr>
        <p:spPr>
          <a:xfrm>
            <a:off x="3493008" y="1078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950208" y="107899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SP Narine as Lead Spinner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493008" y="1508760"/>
            <a:ext cx="2514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15.25 avg wickets/season over 4 seasons (Q7). Economy, consistency, and the ability to open the bowling make him the most complete spin option in the dataset. 2.33 wkts/match at Sheikh Zayed (Q13).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493008" y="3639312"/>
            <a:ext cx="2514600" cy="274320"/>
          </a:xfrm>
          <a:prstGeom prst="rect">
            <a:avLst/>
          </a:prstGeom>
          <a:solidFill>
            <a:srgbClr val="0D7377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520440" y="3639312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Fills the spin gap without overspending; reliable across seasons.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263640" y="1005840"/>
            <a:ext cx="2697480" cy="3794760"/>
          </a:xfrm>
          <a:prstGeom prst="rect">
            <a:avLst/>
          </a:prstGeom>
          <a:solidFill>
            <a:srgbClr val="1B2F4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63640" y="1005840"/>
            <a:ext cx="2697480" cy="54864"/>
          </a:xfrm>
          <a:prstGeom prst="rect">
            <a:avLst/>
          </a:prstGeom>
          <a:solidFill>
            <a:srgbClr val="CC2200"/>
          </a:solidFill>
          <a:ln/>
        </p:spPr>
      </p:sp>
      <p:sp>
        <p:nvSpPr>
          <p:cNvPr id="24" name="Shape 22"/>
          <p:cNvSpPr/>
          <p:nvPr/>
        </p:nvSpPr>
        <p:spPr>
          <a:xfrm>
            <a:off x="6373368" y="1078992"/>
            <a:ext cx="365760" cy="365760"/>
          </a:xfrm>
          <a:prstGeom prst="ellipse">
            <a:avLst/>
          </a:prstGeom>
          <a:solidFill>
            <a:srgbClr val="CC2200"/>
          </a:solidFill>
          <a:ln/>
        </p:spPr>
      </p:sp>
      <p:sp>
        <p:nvSpPr>
          <p:cNvPr id="25" name="Text 23"/>
          <p:cNvSpPr/>
          <p:nvPr/>
        </p:nvSpPr>
        <p:spPr>
          <a:xfrm>
            <a:off x="6373368" y="1078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830568" y="107899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Venue Data in Team Selection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373368" y="1508760"/>
            <a:ext cx="2514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DA Warner averages 52.00 at Chinnaswamy (+13.51 above career avg). RG Sharma averages 45.00 at Eden Gardens (+15.33). Select venue specialists for those specific fixtures — free performance uplift with zero additional cost.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373368" y="3639312"/>
            <a:ext cx="2514600" cy="274320"/>
          </a:xfrm>
          <a:prstGeom prst="rect">
            <a:avLst/>
          </a:prstGeom>
          <a:solidFill>
            <a:srgbClr val="CC2200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0" y="3639312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Systematic venue-matching adds 10–15 expected runs per home match.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CC22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7315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RCB Mega Auction Roadmap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prioritised, data-backed squad-building plan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0" y="7315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05840"/>
          <a:ext cx="8321040" cy="3520440"/>
        </p:xfrm>
        <a:graphic>
          <a:graphicData uri="http://schemas.openxmlformats.org/drawingml/2006/table">
            <a:tbl>
              <a:tblPr/>
              <a:tblGrid>
                <a:gridCol w="868680"/>
                <a:gridCol w="1417320"/>
                <a:gridCol w="1234440"/>
                <a:gridCol w="2880360"/>
                <a:gridCol w="1920240"/>
              </a:tblGrid>
              <a:tr h="4400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Player/Type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Evidence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Impact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C2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 de Villiers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Middle-order bat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Top-5 SR (164.27) AND top-3 avg (492/season)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Removes single biggest batting risk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C2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Death-over bowler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Overs 17–20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 runs/over conceded — must be reduced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Saves 8+ runs/innings in death overs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Russell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All-rounder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Q8: 22.91 runs + 1.00 wkt/match + SR 163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Fixes batting depth + bowling simultaneously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 Narine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spinner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Q7: 15.25 wkts/season, 4 seasons consistent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Provides bowling overs + wicket-taking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D4A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 Warner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Q15: 52.00 avg at Chinnaswamy (+13.51)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Home-ground specialist boosts win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D4A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Legbreak specialist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Bowling variety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Q10: 1.85 wkts/match — best spin efficiency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Increases wicket-taking without budget premium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 opener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Batting depth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Q6 shows cliff-edge after top-3 averages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Reduces over-reliance on 2–3 batsmen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02920" y="4645152"/>
            <a:ext cx="8321040" cy="38404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468172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 above is tied to a specific query output — no guesswork, only data.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RCB – IPL Strategy  ·  Adithya Patel  ·  Newton School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926080"/>
            <a:ext cx="4572000" cy="4572000"/>
          </a:xfrm>
          <a:prstGeom prst="ellipse">
            <a:avLst/>
          </a:prstGeom>
          <a:solidFill>
            <a:srgbClr val="CC2200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D7377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B2F4E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972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Conclusion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94360" y="5943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Data into a Trophy-Winning Strategy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1024128"/>
            <a:ext cx="8229600" cy="594360"/>
          </a:xfrm>
          <a:prstGeom prst="rect">
            <a:avLst/>
          </a:prstGeom>
          <a:solidFill>
            <a:srgbClr val="1B2F4E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133856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70432" y="1069848"/>
            <a:ext cx="7571232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Batting Excellence Exists: V Kohli (618 avg/season) and AB de Villiers (SR 164.27 + 492 avg) are world-class. The batting is not the problem.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94360" y="1728216"/>
            <a:ext cx="8229600" cy="594360"/>
          </a:xfrm>
          <a:prstGeom prst="rect">
            <a:avLst/>
          </a:prstGeom>
          <a:solidFill>
            <a:srgbClr val="1B2F4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837944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70432" y="1773936"/>
            <a:ext cx="7571232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Bowling is the Structural Gap: Wickets declined from 78 (2013) to 71 (2016) as runs rose. RCB has never paired elite batting with an elite bowling attack.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94360" y="2432304"/>
            <a:ext cx="8229600" cy="594360"/>
          </a:xfrm>
          <a:prstGeom prst="rect">
            <a:avLst/>
          </a:prstGeom>
          <a:solidFill>
            <a:srgbClr val="1B2F4E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542032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70432" y="2478024"/>
            <a:ext cx="7571232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Overs Are the Battleground: 9.8 runs/over in overs 17–20 is the single most impactful metric to fix — it affects both batting and bowling outcomes.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94360" y="3136392"/>
            <a:ext cx="8229600" cy="594360"/>
          </a:xfrm>
          <a:prstGeom prst="rect">
            <a:avLst/>
          </a:prstGeom>
          <a:solidFill>
            <a:srgbClr val="1B2F4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3246120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70432" y="3182112"/>
            <a:ext cx="7571232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Toss Mastery is Free: Fielding first wins 54.97% vs 42.86% — adopt this as default strategy and gain 12 win-probability points before a ball is bowled.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94360" y="3840480"/>
            <a:ext cx="8229600" cy="594360"/>
          </a:xfrm>
          <a:prstGeom prst="rect">
            <a:avLst/>
          </a:prstGeom>
          <a:solidFill>
            <a:srgbClr val="1B2F4E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3950208"/>
            <a:ext cx="347472" cy="34747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170432" y="3886200"/>
            <a:ext cx="7571232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Blueprint is Clear: Retain de Villiers. Buy a death bowler + AD Russell + SP Narine. Target venue specialists. The data points to exactly one team composition.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594360" y="4572000"/>
            <a:ext cx="8229600" cy="47548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4" name="Text 17"/>
          <p:cNvSpPr/>
          <p:nvPr/>
        </p:nvSpPr>
        <p:spPr>
          <a:xfrm>
            <a:off x="685800" y="4599432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"RCB doesn't need more stars. They need a system. And the data has just built it."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RCB — IPL Strategy</dc:title>
  <dc:subject>PptxGenJS Presentation</dc:subject>
  <dc:creator>Adithya Patel</dc:creator>
  <cp:lastModifiedBy>Adithya Patel</cp:lastModifiedBy>
  <cp:revision>1</cp:revision>
  <dcterms:created xsi:type="dcterms:W3CDTF">2026-03-19T10:51:14Z</dcterms:created>
  <dcterms:modified xsi:type="dcterms:W3CDTF">2026-03-19T10:51:14Z</dcterms:modified>
</cp:coreProperties>
</file>